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A00"/>
                </a:solidFill>
              </a:rPr>
              <a:t>F1 RACE STRATEGY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Which pit strategy
maximizes finishing
outcome?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CCFF"/>
                </a:solidFill>
              </a:rPr>
              <a:t>👤 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Race engineer · pit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CCFF"/>
                </a:solidFill>
              </a:rPr>
              <a:t>⏱  Decision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858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Pre-race briefing + laps 20–30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CCFF"/>
                </a:solidFill>
              </a:rPr>
              <a:t>🎯 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3342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1-stop vs 2-stop tyre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005840"/>
            <a:ext cx="694944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143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000"/>
                </a:solidFill>
              </a:rPr>
              <a:t>THE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50876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2E"/>
                </a:solidFill>
              </a:rPr>
              <a:t>In wet street-circuit conditions, the strategy
that maximizes P(top 10) is NOT the same as
the strategy that maximizes P(top 5).
A team optimizing only for points survival
may be giving up top-5 upside.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474720"/>
            <a:ext cx="6949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56616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"The decision this tool supports is: which stop count gives the
best probability of finishing top 10 vs top 5 — and do they agree?"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4754880"/>
            <a:ext cx="3291840" cy="1554480"/>
          </a:xfrm>
          <a:prstGeom prst="rect">
            <a:avLst/>
          </a:prstGeom>
          <a:solidFill>
            <a:srgbClr val="E8F0FB"/>
          </a:solidFill>
          <a:ln w="19050">
            <a:solidFill>
              <a:srgbClr val="164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489E"/>
                </a:solidFill>
              </a:rPr>
              <a:t>TARGET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166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is_top10
Points survival (positions 1–10)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754880"/>
            <a:ext cx="3383280" cy="1554480"/>
          </a:xfrm>
          <a:prstGeom prst="rect">
            <a:avLst/>
          </a:prstGeom>
          <a:solidFill>
            <a:srgbClr val="FDF0E4"/>
          </a:solidFill>
          <a:ln w="19050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846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6B0A"/>
                </a:solidFill>
              </a:rPr>
              <a:t>TARGET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166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is_top5
Top-end conversion (positions 1–5)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Data · Split · Model ·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📊 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2,447 driver-race entries
6 seasons · 2019–2024
47 raw columns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411480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63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📅  TEMPORAL SPLIT (LOCKED)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874519"/>
            <a:ext cx="777240" cy="384048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8" y="1920239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202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2019–2021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</a:rPr>
              <a:t>1,132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313431"/>
            <a:ext cx="777240" cy="384048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2359151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CALIB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35915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5915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</a:rPr>
              <a:t>426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752343"/>
            <a:ext cx="77724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8" y="2798063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79806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2023–2024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9806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</a:rPr>
              <a:t>889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371600"/>
            <a:ext cx="356616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🤖 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8288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Calibrated Logistic Regression
One-hot categorical features
Platt scaling on 2022 block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74720"/>
            <a:ext cx="116128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 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77639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4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489E"/>
                </a:solidFill>
              </a:rPr>
              <a:t>PRE-RACE PREDICTORS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526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qualifying_position · constructor_tier · circuit_type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977639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6B0A"/>
                </a:solidFill>
              </a:rPr>
              <a:t>SCENARIO INPUTS
(what-if controls)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526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n_stops · compound_sequence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977639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7676"/>
                </a:solidFill>
              </a:rPr>
              <a:t>AUDIT-ONLY
(never model inputs)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26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weather_actual · safety_car · pace aggregates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669280"/>
            <a:ext cx="116128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164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424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Calibration: model fit on 2019–2021 → Platt sigmoid on 2022 → test set 2023–2024 evaluated ONCE.  All reported probabilities are calibrated.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Calibrated model vs baselines · test set 2023–2024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33502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42646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371600"/>
            <a:ext cx="224942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0784" y="142646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371600"/>
            <a:ext cx="106070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6784" y="142646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Brier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115214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1426464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ROC-AUC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1883664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426464"/>
            <a:ext cx="1810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vs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335024" cy="685800"/>
          </a:xfrm>
          <a:prstGeom prst="rect">
            <a:avLst/>
          </a:prstGeom>
          <a:solidFill>
            <a:srgbClr val="E8F0FB"/>
          </a:solidFill>
          <a:ln w="19050">
            <a:solidFill>
              <a:srgbClr val="164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8928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489E"/>
                </a:solidFill>
              </a:rPr>
              <a:t>is_top10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1755648"/>
            <a:ext cx="224942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0784" y="18288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Calibrated
Logistic Reg.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755648"/>
            <a:ext cx="106070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1828800"/>
            <a:ext cx="987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0.1447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755648"/>
            <a:ext cx="115214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828800"/>
            <a:ext cx="1078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0.8726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55648"/>
            <a:ext cx="188366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82880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Beats heuristic
Does NOT beat docent floor (0.1320)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14600"/>
            <a:ext cx="1335024" cy="685800"/>
          </a:xfrm>
          <a:prstGeom prst="rect">
            <a:avLst/>
          </a:prstGeom>
          <a:solidFill>
            <a:srgbClr val="FDF0E4"/>
          </a:solidFill>
          <a:ln w="19050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6517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6B0A"/>
                </a:solidFill>
              </a:rPr>
              <a:t>is_top5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514600"/>
            <a:ext cx="224942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0784" y="258775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Calibrated
Logistic Reg.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514600"/>
            <a:ext cx="106070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6784" y="2587752"/>
            <a:ext cx="987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0.0958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2514600"/>
            <a:ext cx="115214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2587752"/>
            <a:ext cx="1078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0.9217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514600"/>
            <a:ext cx="1883664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2587752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8644"/>
                </a:solidFill>
              </a:rPr>
              <a:t>Beats heuristic baseline (0.1227)
▲ −0.0269 Brier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19272"/>
            <a:ext cx="7772400" cy="411480"/>
          </a:xfrm>
          <a:prstGeom prst="rect">
            <a:avLst/>
          </a:prstGeom>
          <a:solidFill>
            <a:srgbClr val="FFEBE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36499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⚠  is_top10 does NOT beat the docent floor (0.1320). We report this honestly.</a:t>
            </a:r>
          </a:p>
        </p:txBody>
      </p:sp>
      <p:pic>
        <p:nvPicPr>
          <p:cNvPr id="37" name="Picture 36" descr="calibration_curv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25880"/>
            <a:ext cx="3657600" cy="30175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75320" y="4315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67676"/>
                </a:solidFill>
              </a:rPr>
              <a:t>Fig. 1 — is_top10 reliability diagram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29200"/>
            <a:ext cx="7772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0235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WHAT THIS MEANS FOR A STRATEGY 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4068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is_top10 — competitive but below docent floor: use for scenario comparison only, not deployment.
• is_top5 — meaningfully beats the heuristic: the expansion target adds real signal beyond the grid-rule.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Strategy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Wet street circuit · P1 grid · Top constructor — where the two targets disagree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67676"/>
                </a:solidFill>
              </a:rPr>
              <a:t>Scenario: qualifying P1 · top constructor · street circuit · wet race   (RF stress-test; weather_actual used as conditioning slice, not model feature)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96596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011680"/>
            <a:ext cx="4251960" cy="475488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P(top 10)  ·  is_top10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011680"/>
            <a:ext cx="4251960" cy="475488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1031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P(top 5)  ·  is_top5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87168"/>
            <a:ext cx="1965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5786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no_stop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487168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78608"/>
            <a:ext cx="1005437" cy="27432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5968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0.2499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87168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2578608"/>
            <a:ext cx="1095158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5968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0.2722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62656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5409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one_stop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2962656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054096"/>
            <a:ext cx="2895209" cy="27432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0723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0.7196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62656"/>
            <a:ext cx="4251960" cy="475488"/>
          </a:xfrm>
          <a:prstGeom prst="rect">
            <a:avLst/>
          </a:prstGeom>
          <a:solidFill>
            <a:srgbClr val="FDED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3054096"/>
            <a:ext cx="2419648" cy="274320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0723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0.6014  ★ BEST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438144"/>
            <a:ext cx="1965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52958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two_stop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3438144"/>
            <a:ext cx="4251960" cy="475488"/>
          </a:xfrm>
          <a:prstGeom prst="rect">
            <a:avLst/>
          </a:prstGeom>
          <a:solidFill>
            <a:srgbClr val="E0EA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23160" y="3529584"/>
            <a:ext cx="2917338" cy="274320"/>
          </a:xfrm>
          <a:prstGeom prst="rect">
            <a:avLst/>
          </a:prstGeom>
          <a:solidFill>
            <a:srgbClr val="0D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35478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0.7251  ★ BEST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438144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0" y="3529584"/>
            <a:ext cx="2396313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35478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0.5956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13632"/>
            <a:ext cx="1965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050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three_plus_stop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913632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3160" y="4005072"/>
            <a:ext cx="2876702" cy="27432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8880" y="40233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0.7150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913632"/>
            <a:ext cx="42519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49440" y="4005072"/>
            <a:ext cx="2298947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40233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0.5714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17720"/>
            <a:ext cx="1161288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68172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⚡  DISAGREEMENT:   is_top10 prefers two_stop (0.7251)  ·  is_top5 prefers one_stop (0.6014)
A team optimizing only for points survival would choose the wrong strategy for top-5 upside.
The heuristic grid-rule cannot expose this — it assigns the same probability regardless of stop count.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Verdict &amp; Deployment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1417320"/>
          </a:xfrm>
          <a:prstGeom prst="rect">
            <a:avLst/>
          </a:prstGeom>
          <a:solidFill>
            <a:srgbClr val="0D2D50"/>
          </a:solidFill>
          <a:ln w="25400">
            <a:solidFill>
              <a:srgbClr val="164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489E"/>
                </a:solidFill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Use this tool for structured scenario comparison when you need to distinguish between the points-survival-optimal strategy and the top-5-optimal strategy.
Do not use as a single-number oracle. Use alongside pace data and expert judgment.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11612880" cy="384048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 DO NOT RECOMMEND DEPLOYING THIS TOOL UNLESS: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63240"/>
            <a:ext cx="502920" cy="658368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11064240" cy="65836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Re-evaluated on ≥1 future season beyond 2024 achieving Brier ≤ 0.1320 on is_top10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13048"/>
            <a:ext cx="502920" cy="658368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922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13048"/>
            <a:ext cx="11064240" cy="65836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Scenario sensitivity validated on ≥3 real race disagreement cases where our preferred strategy differed from the observed team 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02920" cy="658368"/>
          </a:xfrm>
          <a:prstGeom prst="rect">
            <a:avLst/>
          </a:prstGeom>
          <a:solidFill>
            <a:srgbClr val="E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6725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562856"/>
            <a:ext cx="11064240" cy="65836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5429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Calibration for wet and midfield slices remains within ±0.02 Brier of the overall test-set score on the new evaluation season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04104"/>
            <a:ext cx="11612880" cy="438912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767676"/>
                </a:solidFill>
              </a:rPr>
              <a:t>Key limitations: strategy confounding with car pace  ·  no qualifying time gaps (column empty)  ·  safety car binary only  ·  2019–2024 era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Backup — Slice Analysis &amp; Calibration is_top5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Show only if asked · not part of the 7-minute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Strategy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55648"/>
            <a:ext cx="1426464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922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Slice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755648"/>
            <a:ext cx="969264" cy="32004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755648"/>
            <a:ext cx="969264" cy="32004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75688"/>
            <a:ext cx="14264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no_stop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207568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0.0442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07568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0.0281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41448"/>
            <a:ext cx="14264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one_stop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244144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0.1559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44144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0.1045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07208"/>
            <a:ext cx="14264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62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two_stop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280720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2862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0.1350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80720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862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0.0899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172968"/>
            <a:ext cx="14264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three_plus_stop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172968"/>
            <a:ext cx="9692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0.1521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172968"/>
            <a:ext cx="9692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0.0967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Constructor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1755648"/>
            <a:ext cx="1426464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59" y="17922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Slice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19" y="1755648"/>
            <a:ext cx="969264" cy="32004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19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79" y="1755648"/>
            <a:ext cx="969264" cy="32004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79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2075688"/>
            <a:ext cx="14264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79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backmarker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19" y="207568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06439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0.1295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79" y="207568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7999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59" y="2441448"/>
            <a:ext cx="14264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79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19" y="2441448"/>
            <a:ext cx="9692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39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0.1121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79" y="244144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7999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0.1972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59" y="2807208"/>
            <a:ext cx="14264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79" y="2862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midfield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19" y="280720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39" y="2862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280720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7999" y="2862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0.1210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598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Weather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598" y="1755648"/>
            <a:ext cx="1426464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598" y="17922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Slice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38358" y="1755648"/>
            <a:ext cx="969264" cy="320040"/>
          </a:xfrm>
          <a:prstGeom prst="rect">
            <a:avLst/>
          </a:prstGeom>
          <a:solidFill>
            <a:srgbClr val="164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58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89918" y="1755648"/>
            <a:ext cx="969264" cy="32004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89918" y="1792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598" y="2075688"/>
            <a:ext cx="14264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18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38358" y="207568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84078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0.1451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89918" y="2075688"/>
            <a:ext cx="969264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35638" y="2130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0.0923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598" y="2441448"/>
            <a:ext cx="14264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18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wet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38358" y="2441448"/>
            <a:ext cx="96926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84078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0.1425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89918" y="2441448"/>
            <a:ext cx="969264" cy="365760"/>
          </a:xfrm>
          <a:prstGeom prst="rect">
            <a:avLst/>
          </a:prstGeom>
          <a:solidFill>
            <a:srgbClr val="FF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35638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0.1183</a:t>
            </a:r>
          </a:p>
        </p:txBody>
      </p:sp>
      <p:pic>
        <p:nvPicPr>
          <p:cNvPr id="80" name="Picture 79" descr="calibration_curve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49039"/>
            <a:ext cx="4114800" cy="27432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74320" y="64465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67676"/>
                </a:solidFill>
              </a:rPr>
              <a:t>Fig. 2 — is_top5 reliability diagram (test 2023–2024)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0" y="3749039"/>
            <a:ext cx="73152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3822191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000"/>
                </a:solidFill>
              </a:rPr>
              <a:t>WORST SLICES  (Q&amp;A ready)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0" y="4187952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is_top10 hardest: midfield (Brier 0.1700) — model near decision boundary
• is_top5 hardest: front constructors (Brier 0.1972) — overconfidence near podium
• Both targets degrade in wet conditions — strategy confounding is strongest there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67676"/>
                </a:solidFill>
              </a:rPr>
              <a:t>IIT414W · F1 Race Strategy Advisor · Ariel Van Kilsdonk &amp; David Hernández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67676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